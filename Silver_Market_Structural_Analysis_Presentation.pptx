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2F26-2912-69AC-1077-F36BD504F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CF9E5-EB60-508C-A176-327682A3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4555-62DC-CA30-65E2-AC27B1254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07425-3373-61F0-463D-FD841436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74D3-B986-0E5B-9F19-B62BAFC1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1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0A09-1C6C-628A-C2D7-FB1A7423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C6E63-5E7C-0A48-69F7-8292212F2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9AD5-2F8E-9DEE-5F59-223661FD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8D1C-BC04-2252-6687-15E1FF02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4944F-6EAF-AB2C-2895-69EDA5EA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81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D9BE2-360B-C8E9-3AA8-DA1B2846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34932-21FB-9F2C-2607-EC6D2C7A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76D4-4006-A4FE-8617-D10D138A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2817B-391E-4C86-9554-55E4E7ED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105FF-11CE-8A97-2C01-5863AE42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3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7E46-4E5E-233F-9BB9-8E4D08D0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A014-26E0-6DFD-7A95-E987FF4F5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7B3C0-0569-BB06-F72E-C0D180F09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74883-34AF-E0BB-663D-C20E74FD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43F02-5B40-9CD1-A8AD-E1EB8B37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BCF18-37A4-7EC7-1181-3E112B12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12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0583-6E03-EA80-3871-6C100CF7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4E367-DD72-345D-4D6B-1E852CB9F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6C39A-5417-412C-39F1-57DBFACB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61579-949A-7D31-B951-D2DF3000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53030-F062-5F09-471F-E7FFDCD27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614DC-54C0-8D0C-9E9E-860160FC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DA2CE-CFDE-634F-1B6E-574BD248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DC65E-F897-428E-5B5D-99721FED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6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98E9B-D61F-AA72-D04B-65C672AF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4B049-D873-3FB3-408D-76B12C08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CE209-3383-678D-3472-0140CEE4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A7714-94F1-C664-4920-FD3382C2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0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9270C0-4B58-2345-AF1E-50656C1A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CD1DC-77F2-4CA4-5139-8DBE256B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B95F7-0EFA-CE99-231A-3BDB19F3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0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9097-ECAA-1363-5F9D-19E36655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99102-23B5-E0ED-2778-B99626F7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F68CC-248A-8E94-F660-0553324F5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DF67D-F27F-2261-9022-259A5049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5219A-D2E3-F073-84D7-CFCA8B5E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CDC37-FDDB-EAAD-7C75-0E598DF54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043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1BDC-3A24-DB8C-ACA6-C2C24DE9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1716E-01CE-BABF-DBEB-9E3DB9E7A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61EAB-5632-B70C-4FEC-663F25D33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D002E-75FE-9A9C-EC2B-08DBF8F6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671A1-F144-AACD-C80E-43FE3AA6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2F64A-6668-645A-0C70-514D879E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3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BF82-2DAA-E30A-F9FE-CF1799D9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3F559-1F0A-27F6-73F3-4BEB68DFB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4E8B4-C056-B1D9-4209-FE513A9A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DF0B9-687D-4C9D-A196-33BECF29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358-6A02-E136-F7BE-F04B051B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76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A47FA-F393-A3A6-13CC-965833A59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4193D-D522-286C-420D-E47638572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4AE34-A21B-A1AB-271E-FCE0473E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DBEDD-67CC-21E1-FD21-B438706E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E0D7E-FC64-15FF-3114-EC4CF233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51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C58FD-3326-856D-06CA-625B5079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2468F-4791-90DD-6BBB-347A4CC13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14F25-312E-C4E4-B5F1-73D6F56A4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10DE3-C23D-8B1A-1124-97969473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A3A55-DCE3-BBCF-664B-C60E16C16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7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1AD3-C56C-A4C6-B7FE-7FEB82D42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135" y="399011"/>
            <a:ext cx="11554690" cy="3029989"/>
          </a:xfrm>
        </p:spPr>
        <p:txBody>
          <a:bodyPr>
            <a:normAutofit/>
          </a:bodyPr>
          <a:lstStyle/>
          <a:p>
            <a:r>
              <a:rPr lang="en-US" sz="4000" b="1" i="1" dirty="0"/>
              <a:t>The Structural Transformation of the Silver Market</a:t>
            </a:r>
            <a:br>
              <a:rPr lang="en-US" sz="4000" b="1" i="1" dirty="0"/>
            </a:br>
            <a:r>
              <a:rPr lang="en-US" sz="4000" b="1" i="1" dirty="0"/>
              <a:t>From Precious Metal to Critical Industrial Commodity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E82BE-BCBD-C2C6-17AA-920F589BA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Prepared by:</a:t>
            </a:r>
            <a:r>
              <a:rPr lang="en-US" dirty="0"/>
              <a:t> </a:t>
            </a:r>
            <a:r>
              <a:rPr lang="en-US" i="1" dirty="0"/>
              <a:t>Jordan Playil</a:t>
            </a:r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Data &amp; Market Analyst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</a:t>
            </a:r>
            <a:r>
              <a:rPr lang="en-US" i="1" dirty="0"/>
              <a:t>14/01/2026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17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DD64-9B80-7B3B-0268-BA25FEB3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PURPOSE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CAE7E-91D6-9A51-8769-DF88CDA84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Why This Analysis Was Conducted</a:t>
            </a:r>
          </a:p>
          <a:p>
            <a:r>
              <a:rPr lang="en-US" dirty="0"/>
              <a:t>To determine whether recent silver price strength is:</a:t>
            </a:r>
          </a:p>
          <a:p>
            <a:pPr lvl="1"/>
            <a:r>
              <a:rPr lang="en-US" dirty="0"/>
              <a:t>Cyclical and speculative</a:t>
            </a:r>
          </a:p>
          <a:p>
            <a:pPr lvl="1"/>
            <a:r>
              <a:rPr lang="en-US" b="1" dirty="0"/>
              <a:t>Or fundamentally structural</a:t>
            </a:r>
            <a:endParaRPr lang="en-US" dirty="0"/>
          </a:p>
          <a:p>
            <a:r>
              <a:rPr lang="en-US" dirty="0"/>
              <a:t>To assess long-term implications for:</a:t>
            </a:r>
          </a:p>
          <a:p>
            <a:pPr lvl="1"/>
            <a:r>
              <a:rPr lang="en-US" dirty="0"/>
              <a:t>Investors</a:t>
            </a:r>
          </a:p>
          <a:p>
            <a:pPr lvl="1"/>
            <a:r>
              <a:rPr lang="en-US" dirty="0"/>
              <a:t>Corporates</a:t>
            </a:r>
          </a:p>
          <a:p>
            <a:pPr lvl="1"/>
            <a:r>
              <a:rPr lang="en-US" dirty="0"/>
              <a:t>Strategic capital allocation</a:t>
            </a:r>
          </a:p>
          <a:p>
            <a:pPr marL="0" indent="0">
              <a:buNone/>
            </a:pPr>
            <a:r>
              <a:rPr lang="en-US" b="1" dirty="0"/>
              <a:t>Key Question:</a:t>
            </a:r>
            <a:endParaRPr lang="en-US" dirty="0"/>
          </a:p>
          <a:p>
            <a:pPr marL="0" indent="0" algn="ctr">
              <a:buNone/>
            </a:pPr>
            <a:r>
              <a:rPr lang="en-US" i="1" dirty="0"/>
              <a:t>Is silver being repriced — or merely experiencing a temporary rally?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50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8280-1AED-E7E9-22F4-E2CE04F4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DATA SOURCES &amp; CREDIBILITY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67386-3E43-0EE1-F7FA-23D2F3F6A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Where the Data Came From</a:t>
            </a:r>
          </a:p>
          <a:p>
            <a:r>
              <a:rPr lang="en-US" b="1" dirty="0"/>
              <a:t>Demand &amp; Supply Data:</a:t>
            </a:r>
            <a:br>
              <a:rPr lang="en-US" dirty="0"/>
            </a:br>
            <a:r>
              <a:rPr lang="en-US" b="1" dirty="0"/>
              <a:t>The Silver Institute</a:t>
            </a:r>
            <a:r>
              <a:rPr lang="en-US" dirty="0"/>
              <a:t> (industry authority)</a:t>
            </a:r>
          </a:p>
          <a:p>
            <a:r>
              <a:rPr lang="en-US" b="1" dirty="0"/>
              <a:t>Price Data:</a:t>
            </a:r>
            <a:br>
              <a:rPr lang="en-US" dirty="0"/>
            </a:br>
            <a:r>
              <a:rPr lang="en-US" b="1" dirty="0"/>
              <a:t>Kaggle</a:t>
            </a:r>
            <a:r>
              <a:rPr lang="en-US" dirty="0"/>
              <a:t> (historical silver price dataset)</a:t>
            </a:r>
          </a:p>
          <a:p>
            <a:r>
              <a:rPr lang="en-US" b="1" dirty="0"/>
              <a:t>Why These Sources Matter</a:t>
            </a:r>
          </a:p>
          <a:p>
            <a:r>
              <a:rPr lang="en-US" dirty="0"/>
              <a:t>Widely used by:</a:t>
            </a:r>
          </a:p>
          <a:p>
            <a:pPr lvl="1"/>
            <a:r>
              <a:rPr lang="en-US" dirty="0"/>
              <a:t>Miners</a:t>
            </a:r>
          </a:p>
          <a:p>
            <a:pPr lvl="1"/>
            <a:r>
              <a:rPr lang="en-US" dirty="0"/>
              <a:t>Banks</a:t>
            </a:r>
          </a:p>
          <a:p>
            <a:pPr lvl="1"/>
            <a:r>
              <a:rPr lang="en-US" dirty="0"/>
              <a:t>Institutional investors</a:t>
            </a:r>
          </a:p>
          <a:p>
            <a:r>
              <a:rPr lang="en-US" dirty="0"/>
              <a:t>No proprietary assumptions or synthetic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61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DF7B-10E4-CCD5-E8FF-C647B265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DATA ENGINEERING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69D43-3324-AD8E-E658-23FE0518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Was Done Before Any Analysis</a:t>
            </a:r>
          </a:p>
          <a:p>
            <a:r>
              <a:rPr lang="en-US" dirty="0" err="1"/>
              <a:t>Standardised</a:t>
            </a:r>
            <a:r>
              <a:rPr lang="en-US" dirty="0"/>
              <a:t> demand &amp; supply categories</a:t>
            </a:r>
          </a:p>
          <a:p>
            <a:r>
              <a:rPr lang="en-US" dirty="0"/>
              <a:t>Resolved inconsistencies across years</a:t>
            </a:r>
          </a:p>
          <a:p>
            <a:r>
              <a:rPr lang="en-US" dirty="0" err="1"/>
              <a:t>Normalised</a:t>
            </a:r>
            <a:r>
              <a:rPr lang="en-US" dirty="0"/>
              <a:t> all values to </a:t>
            </a:r>
            <a:r>
              <a:rPr lang="en-US" b="1" dirty="0"/>
              <a:t>million ounces</a:t>
            </a:r>
            <a:endParaRPr lang="en-US" dirty="0"/>
          </a:p>
          <a:p>
            <a:r>
              <a:rPr lang="en-US" dirty="0"/>
              <a:t>Segregated historical vs forecast data</a:t>
            </a:r>
          </a:p>
          <a:p>
            <a:r>
              <a:rPr lang="en-US" dirty="0"/>
              <a:t>Removed duplicates and alignment errors</a:t>
            </a:r>
          </a:p>
          <a:p>
            <a:r>
              <a:rPr lang="en-US" i="1" dirty="0"/>
              <a:t>Every visual in this deck is built on cleaned, validated data.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40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E681-9FB9-AA39-0F2A-235D6AF7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8"/>
            <a:ext cx="10515600" cy="1325563"/>
          </a:xfrm>
        </p:spPr>
        <p:txBody>
          <a:bodyPr/>
          <a:lstStyle/>
          <a:p>
            <a:pPr algn="ctr"/>
            <a:r>
              <a:rPr lang="en-IN" i="1" dirty="0"/>
              <a:t>POWER BI &amp; DAX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5C67E-A6D7-C893-13B7-4B2F79159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690688"/>
            <a:ext cx="10938164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How the Analysis Was Built</a:t>
            </a:r>
          </a:p>
          <a:p>
            <a:r>
              <a:rPr lang="en-US" dirty="0"/>
              <a:t>End-to-end model created in </a:t>
            </a:r>
            <a:r>
              <a:rPr lang="en-US" b="1" dirty="0"/>
              <a:t>Power BI</a:t>
            </a:r>
            <a:endParaRPr lang="en-US" dirty="0"/>
          </a:p>
          <a:p>
            <a:r>
              <a:rPr lang="en-US" dirty="0"/>
              <a:t>Star-schema structure:</a:t>
            </a:r>
          </a:p>
          <a:p>
            <a:pPr lvl="1"/>
            <a:r>
              <a:rPr lang="en-US" dirty="0"/>
              <a:t>Fact tables: Demand, Supply, Price</a:t>
            </a:r>
          </a:p>
          <a:p>
            <a:pPr lvl="1"/>
            <a:r>
              <a:rPr lang="en-US" dirty="0"/>
              <a:t>Dimensions: Year, Category, Sub-Category</a:t>
            </a:r>
          </a:p>
          <a:p>
            <a:r>
              <a:rPr lang="en-US" b="1" dirty="0"/>
              <a:t>Custom DAX Measures Created</a:t>
            </a:r>
          </a:p>
          <a:p>
            <a:r>
              <a:rPr lang="en-US" dirty="0"/>
              <a:t>Total Demand &amp; Supply</a:t>
            </a:r>
          </a:p>
          <a:p>
            <a:r>
              <a:rPr lang="en-US" dirty="0"/>
              <a:t>Demand–Supply Deficit</a:t>
            </a:r>
          </a:p>
          <a:p>
            <a:r>
              <a:rPr lang="en-US" dirty="0"/>
              <a:t>Category Contribution (%)</a:t>
            </a:r>
          </a:p>
          <a:p>
            <a:r>
              <a:rPr lang="en-US" dirty="0"/>
              <a:t>CAGR by Category</a:t>
            </a:r>
          </a:p>
          <a:p>
            <a:r>
              <a:rPr lang="en-US" dirty="0"/>
              <a:t>Yearly Max Low and High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79FC0-E367-AE96-4A2B-41D40979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433" y="1464731"/>
            <a:ext cx="3314987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39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94E8-B2F3-9B3C-BE2F-D66933D1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ANALYTICAL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42A1-4D5B-C97C-C8AF-AB56E9F9E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 Used</a:t>
            </a:r>
          </a:p>
          <a:p>
            <a:r>
              <a:rPr lang="en-US" dirty="0"/>
              <a:t>Demand structure analysis</a:t>
            </a:r>
          </a:p>
          <a:p>
            <a:r>
              <a:rPr lang="en-US" dirty="0"/>
              <a:t>Supply elasticity assessment</a:t>
            </a:r>
          </a:p>
          <a:p>
            <a:r>
              <a:rPr lang="en-US" dirty="0"/>
              <a:t>Market balance (deficit/surplus)</a:t>
            </a:r>
          </a:p>
          <a:p>
            <a:r>
              <a:rPr lang="en-US" dirty="0"/>
              <a:t>Price response to imbalance</a:t>
            </a:r>
          </a:p>
          <a:p>
            <a:r>
              <a:rPr lang="en-US" dirty="0"/>
              <a:t>Forward trend extrapolation</a:t>
            </a:r>
          </a:p>
          <a:p>
            <a:pPr marL="0" indent="0">
              <a:buNone/>
            </a:pPr>
            <a:endParaRPr lang="en-US" i="1" dirty="0"/>
          </a:p>
          <a:p>
            <a:pPr marL="0" indent="0" algn="ctr">
              <a:buNone/>
            </a:pPr>
            <a:r>
              <a:rPr lang="en-US" i="1" dirty="0"/>
              <a:t>This mirrors institutional commodity research methodology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23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425B-B1AB-B997-73F8-46EF0ACD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DEMAND COMPOSITION (STRUCTURAL SHIFT)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7E18-361E-9636-96AF-5FB2EA3CD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How Silver Demand Has Changed</a:t>
            </a:r>
          </a:p>
          <a:p>
            <a:r>
              <a:rPr lang="en-IN" dirty="0"/>
              <a:t>Industrial demand grew from:</a:t>
            </a:r>
          </a:p>
          <a:p>
            <a:pPr lvl="1"/>
            <a:r>
              <a:rPr lang="en-IN" b="1" dirty="0"/>
              <a:t>~500M oz (2016)</a:t>
            </a:r>
            <a:r>
              <a:rPr lang="en-IN" dirty="0"/>
              <a:t> → </a:t>
            </a:r>
            <a:r>
              <a:rPr lang="en-IN" b="1" dirty="0"/>
              <a:t>~880M oz (2024)</a:t>
            </a:r>
            <a:endParaRPr lang="en-IN" dirty="0"/>
          </a:p>
          <a:p>
            <a:r>
              <a:rPr lang="en-IN" b="1" dirty="0"/>
              <a:t>+76% growth | ~7.5% CAGR</a:t>
            </a:r>
            <a:endParaRPr lang="en-IN" dirty="0"/>
          </a:p>
          <a:p>
            <a:r>
              <a:rPr lang="en-IN" dirty="0"/>
              <a:t>Now represents </a:t>
            </a:r>
            <a:r>
              <a:rPr lang="en-IN" b="1" dirty="0"/>
              <a:t>~70% of total demand</a:t>
            </a:r>
            <a:endParaRPr lang="en-IN" dirty="0"/>
          </a:p>
          <a:p>
            <a:r>
              <a:rPr lang="en-IN" b="1" dirty="0"/>
              <a:t>Declining Segments</a:t>
            </a:r>
          </a:p>
          <a:p>
            <a:r>
              <a:rPr lang="en-IN" dirty="0" err="1"/>
              <a:t>Jewelry</a:t>
            </a:r>
            <a:r>
              <a:rPr lang="en-IN" dirty="0"/>
              <a:t> &amp; silverware</a:t>
            </a:r>
          </a:p>
          <a:p>
            <a:r>
              <a:rPr lang="en-IN" dirty="0"/>
              <a:t>Photography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8C40F-85A2-73D2-4F61-B63E0FBB87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9"/>
          <a:stretch>
            <a:fillRect/>
          </a:stretch>
        </p:blipFill>
        <p:spPr>
          <a:xfrm>
            <a:off x="7248698" y="1961804"/>
            <a:ext cx="4389120" cy="345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8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39A1-9221-6EF5-B8C2-45C98AD4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INDUSTRIAL DEMAND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500D-B56A-6FC0-51C7-8F03A5564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What’s Driving Industrial Growth</a:t>
            </a:r>
          </a:p>
          <a:p>
            <a:r>
              <a:rPr lang="en-US" dirty="0"/>
              <a:t>Solar photovoltaic manufacturing</a:t>
            </a:r>
          </a:p>
          <a:p>
            <a:r>
              <a:rPr lang="en-US" dirty="0"/>
              <a:t>Electrification &amp; EVs</a:t>
            </a:r>
          </a:p>
          <a:p>
            <a:r>
              <a:rPr lang="en-US" dirty="0"/>
              <a:t>Data centers &amp; 5G infrastructure</a:t>
            </a:r>
          </a:p>
          <a:p>
            <a:r>
              <a:rPr lang="en-US" dirty="0"/>
              <a:t>Electronics &amp; IoT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 algn="ctr">
              <a:buNone/>
            </a:pPr>
            <a:r>
              <a:rPr lang="en-US" i="1" dirty="0"/>
              <a:t>Silver is now a critical industrial input, not just a precious metal.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89266-9806-08D5-ECC0-1F5BEC3F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324" y="1530819"/>
            <a:ext cx="4315119" cy="379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7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F2B1-4798-4CCB-72FA-4833915F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SUPPLY STRUCTURE</a:t>
            </a:r>
            <a:endParaRPr lang="en-IN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1FC6-6A1C-D89A-6BEB-23746F9B2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Supply Reality Check</a:t>
            </a:r>
          </a:p>
          <a:p>
            <a:r>
              <a:rPr lang="en-US" i="1" dirty="0"/>
              <a:t>Mine production:</a:t>
            </a:r>
          </a:p>
          <a:p>
            <a:pPr lvl="1"/>
            <a:r>
              <a:rPr lang="en-US" i="1" dirty="0"/>
              <a:t>~800–850M oz annually</a:t>
            </a:r>
          </a:p>
          <a:p>
            <a:pPr lvl="1"/>
            <a:r>
              <a:rPr lang="en-US" i="1" dirty="0"/>
              <a:t>Flat for 8+ years</a:t>
            </a:r>
          </a:p>
          <a:p>
            <a:r>
              <a:rPr lang="en-US" i="1" dirty="0"/>
              <a:t>Recycling:</a:t>
            </a:r>
          </a:p>
          <a:p>
            <a:pPr lvl="1"/>
            <a:r>
              <a:rPr lang="en-US" i="1" dirty="0"/>
              <a:t>~18–20% of total supply</a:t>
            </a:r>
          </a:p>
          <a:p>
            <a:pPr lvl="1"/>
            <a:r>
              <a:rPr lang="en-US" i="1" dirty="0"/>
              <a:t>Minimal price responsiveness</a:t>
            </a:r>
          </a:p>
          <a:p>
            <a:endParaRPr lang="en-IN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0DE96-5880-E931-DFB1-86798A1FA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701" y="1564373"/>
            <a:ext cx="4514977" cy="372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57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8343-289F-3217-EC32-CF47128B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STRUCTURAL DEFICIT DRIVES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4ED84-6F74-55A4-C695-AE146BEBF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3" y="1562793"/>
            <a:ext cx="11188931" cy="49300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What’s Happening</a:t>
            </a:r>
          </a:p>
          <a:p>
            <a:r>
              <a:rPr lang="en-US" dirty="0"/>
              <a:t>Supply </a:t>
            </a:r>
            <a:r>
              <a:rPr lang="en-US" b="1" dirty="0"/>
              <a:t>not responding</a:t>
            </a:r>
            <a:r>
              <a:rPr lang="en-US" dirty="0"/>
              <a:t> to price</a:t>
            </a:r>
          </a:p>
          <a:p>
            <a:r>
              <a:rPr lang="en-US" b="1" dirty="0"/>
              <a:t>150–250M oz deficits</a:t>
            </a:r>
            <a:r>
              <a:rPr lang="en-US" dirty="0"/>
              <a:t> post-2020</a:t>
            </a:r>
          </a:p>
          <a:p>
            <a:r>
              <a:rPr lang="en-US" dirty="0"/>
              <a:t>Deficits </a:t>
            </a:r>
            <a:r>
              <a:rPr lang="en-US" b="1" dirty="0"/>
              <a:t>widening</a:t>
            </a:r>
            <a:r>
              <a:rPr lang="en-US" dirty="0"/>
              <a:t>, not cyclical</a:t>
            </a:r>
          </a:p>
          <a:p>
            <a:r>
              <a:rPr lang="en-US" dirty="0"/>
              <a:t>Price: </a:t>
            </a:r>
            <a:r>
              <a:rPr lang="en-US" b="1" dirty="0"/>
              <a:t>$17 → $35+</a:t>
            </a:r>
            <a:r>
              <a:rPr lang="en-US" dirty="0"/>
              <a:t> (2020–2025)</a:t>
            </a:r>
          </a:p>
          <a:p>
            <a:pPr marL="0" indent="0">
              <a:buNone/>
            </a:pPr>
            <a:r>
              <a:rPr lang="en-US" b="1" dirty="0"/>
              <a:t>Why It Matters</a:t>
            </a:r>
          </a:p>
          <a:p>
            <a:r>
              <a:rPr lang="en-US" dirty="0"/>
              <a:t>Supply structurally inflexible</a:t>
            </a:r>
          </a:p>
          <a:p>
            <a:r>
              <a:rPr lang="en-US" dirty="0"/>
              <a:t>Price responding </a:t>
            </a:r>
            <a:r>
              <a:rPr lang="en-US" b="1" dirty="0"/>
              <a:t>rationally</a:t>
            </a:r>
            <a:endParaRPr lang="en-US" dirty="0"/>
          </a:p>
          <a:p>
            <a:r>
              <a:rPr lang="en-US" dirty="0"/>
              <a:t>Deficit explains </a:t>
            </a:r>
            <a:r>
              <a:rPr lang="en-US" b="1" dirty="0"/>
              <a:t>~70–80%</a:t>
            </a:r>
            <a:r>
              <a:rPr lang="en-US" dirty="0"/>
              <a:t> of the price move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IN" b="1" dirty="0"/>
              <a:t>Structural shortage → structural repricing</a:t>
            </a:r>
            <a:endParaRPr lang="en-US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967DB-4054-138E-3A43-68001FE5B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717" y="1650076"/>
            <a:ext cx="5901729" cy="355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2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AC3A-59DF-223B-9ECD-CD9E7B35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FORWARD PRICE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49320-36CF-9910-3B68-70F54CDBC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Trend-Based Projection</a:t>
            </a:r>
          </a:p>
          <a:p>
            <a:r>
              <a:rPr lang="en-US" b="1" dirty="0"/>
              <a:t>Most Probable 2027 Scenario:</a:t>
            </a:r>
            <a:endParaRPr lang="en-US" dirty="0"/>
          </a:p>
          <a:p>
            <a:r>
              <a:rPr lang="en-US" b="1" dirty="0"/>
              <a:t>Base Case:</a:t>
            </a:r>
            <a:r>
              <a:rPr lang="en-US" dirty="0"/>
              <a:t> $60–64 per oz</a:t>
            </a:r>
          </a:p>
          <a:p>
            <a:r>
              <a:rPr lang="en-US" dirty="0"/>
              <a:t>Risk skewed upward</a:t>
            </a:r>
          </a:p>
          <a:p>
            <a:pPr marL="0" indent="0">
              <a:buNone/>
            </a:pPr>
            <a:r>
              <a:rPr lang="en-US" b="1" dirty="0"/>
              <a:t>Why</a:t>
            </a:r>
          </a:p>
          <a:p>
            <a:r>
              <a:rPr lang="en-US" dirty="0"/>
              <a:t>20% supply shortfall</a:t>
            </a:r>
          </a:p>
          <a:p>
            <a:r>
              <a:rPr lang="en-US" dirty="0"/>
              <a:t>Flat mine output</a:t>
            </a:r>
          </a:p>
          <a:p>
            <a:r>
              <a:rPr lang="en-US" dirty="0"/>
              <a:t>Inelastic industrial demand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77831-B43D-0F1C-E9A6-12FA85D7F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4"/>
            <a:ext cx="5773348" cy="392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6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40D2-989F-C44F-58F1-9EBF5E92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INVESTOR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B9033-A97B-B972-4E6E-8A3C0F5D9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This Means for Capital Allocation</a:t>
            </a:r>
          </a:p>
          <a:p>
            <a:r>
              <a:rPr lang="en-US" dirty="0"/>
              <a:t>Silver offers asymmetric upside</a:t>
            </a:r>
          </a:p>
          <a:p>
            <a:r>
              <a:rPr lang="en-US" dirty="0"/>
              <a:t>Structural, not cyclical thesis</a:t>
            </a:r>
          </a:p>
          <a:p>
            <a:r>
              <a:rPr lang="en-US" dirty="0"/>
              <a:t>Exposure to:</a:t>
            </a:r>
          </a:p>
          <a:p>
            <a:pPr lvl="1"/>
            <a:r>
              <a:rPr lang="en-US" dirty="0"/>
              <a:t>Energy transition</a:t>
            </a:r>
          </a:p>
          <a:p>
            <a:pPr lvl="1"/>
            <a:r>
              <a:rPr lang="en-US" dirty="0"/>
              <a:t>Infrastructure spending</a:t>
            </a:r>
          </a:p>
          <a:p>
            <a:pPr lvl="1"/>
            <a:r>
              <a:rPr lang="en-US" dirty="0"/>
              <a:t>Inflation hedging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441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AEE2-BAA9-F57E-5FBC-E38B50F9E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/>
              <a:t>MODEL LIMITATIONS &amp; TRANSPARENCY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F7C59-3662-B73B-5A97-602D28356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This Model Does Not Claim</a:t>
            </a:r>
          </a:p>
          <a:p>
            <a:r>
              <a:rPr lang="en-US" dirty="0"/>
              <a:t>Exact timing of price moves</a:t>
            </a:r>
          </a:p>
          <a:p>
            <a:r>
              <a:rPr lang="en-US" dirty="0"/>
              <a:t>Immunity to macro shocks</a:t>
            </a:r>
          </a:p>
          <a:p>
            <a:r>
              <a:rPr lang="en-US" dirty="0"/>
              <a:t>Perfect forecasting accuracy</a:t>
            </a:r>
          </a:p>
          <a:p>
            <a:pPr marL="0" indent="0">
              <a:buNone/>
            </a:pPr>
            <a:r>
              <a:rPr lang="en-US" b="1" dirty="0"/>
              <a:t>What It Does Provide</a:t>
            </a:r>
          </a:p>
          <a:p>
            <a:r>
              <a:rPr lang="en-US" dirty="0"/>
              <a:t>Directional certainty</a:t>
            </a:r>
          </a:p>
          <a:p>
            <a:r>
              <a:rPr lang="en-US" dirty="0"/>
              <a:t>Structural clarity</a:t>
            </a:r>
          </a:p>
          <a:p>
            <a:r>
              <a:rPr lang="en-US" dirty="0"/>
              <a:t>Fundamentally grounded conclusions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030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86D2-7C17-93C8-89DE-A82A03D5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226"/>
            <a:ext cx="10515600" cy="1325563"/>
          </a:xfrm>
        </p:spPr>
        <p:txBody>
          <a:bodyPr/>
          <a:lstStyle/>
          <a:p>
            <a:pPr algn="ctr"/>
            <a:r>
              <a:rPr lang="en-IN" i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46B1A-B594-CF65-31EF-27B906A8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265" y="1429789"/>
            <a:ext cx="11188931" cy="506308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Analysis based on </a:t>
            </a:r>
            <a:r>
              <a:rPr lang="en-US" b="1" dirty="0"/>
              <a:t>historical data (2016 – Q1 2025)</a:t>
            </a:r>
            <a:endParaRPr lang="en-US" dirty="0"/>
          </a:p>
          <a:p>
            <a:r>
              <a:rPr lang="en-US" dirty="0"/>
              <a:t>Demand &amp; supply data sourced from </a:t>
            </a:r>
            <a:r>
              <a:rPr lang="en-US" b="1" dirty="0"/>
              <a:t>The Silver Institute</a:t>
            </a:r>
            <a:endParaRPr lang="en-US" dirty="0"/>
          </a:p>
          <a:p>
            <a:r>
              <a:rPr lang="en-US" dirty="0"/>
              <a:t>Price trends based on </a:t>
            </a:r>
            <a:r>
              <a:rPr lang="en-US" b="1" dirty="0"/>
              <a:t>historical market data</a:t>
            </a:r>
            <a:endParaRPr lang="en-US" dirty="0"/>
          </a:p>
          <a:p>
            <a:r>
              <a:rPr lang="en-US" b="1" dirty="0"/>
              <a:t>Forward price outlook is indicative</a:t>
            </a:r>
            <a:r>
              <a:rPr lang="en-US" dirty="0"/>
              <a:t>, influenced by:</a:t>
            </a:r>
          </a:p>
          <a:p>
            <a:pPr lvl="1"/>
            <a:r>
              <a:rPr lang="en-US" dirty="0"/>
              <a:t>Investor sentiment</a:t>
            </a:r>
          </a:p>
          <a:p>
            <a:pPr lvl="1"/>
            <a:r>
              <a:rPr lang="en-US" dirty="0"/>
              <a:t>Geopolitical tensions</a:t>
            </a:r>
          </a:p>
          <a:p>
            <a:pPr lvl="1"/>
            <a:r>
              <a:rPr lang="en-US" dirty="0"/>
              <a:t>Inflation &amp; monetary policy</a:t>
            </a:r>
          </a:p>
          <a:p>
            <a:pPr lvl="1"/>
            <a:r>
              <a:rPr lang="en-US" dirty="0"/>
              <a:t>Global economic conditions</a:t>
            </a:r>
          </a:p>
          <a:p>
            <a:r>
              <a:rPr lang="en-US" dirty="0"/>
              <a:t>This is </a:t>
            </a:r>
            <a:r>
              <a:rPr lang="en-US" b="1" dirty="0"/>
              <a:t>not financial advice</a:t>
            </a:r>
            <a:endParaRPr lang="en-US" dirty="0"/>
          </a:p>
          <a:p>
            <a:r>
              <a:rPr lang="en-US" dirty="0"/>
              <a:t>Purpose is to provide </a:t>
            </a:r>
            <a:r>
              <a:rPr lang="en-US" b="1" dirty="0"/>
              <a:t>data-driven insights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Key Insight:</a:t>
            </a:r>
            <a:r>
              <a:rPr lang="en-US" dirty="0"/>
              <a:t> Silver is no longer just a precious metal —</a:t>
            </a:r>
            <a:br>
              <a:rPr lang="en-US" dirty="0"/>
            </a:br>
            <a:r>
              <a:rPr lang="en-US" dirty="0"/>
              <a:t>it is a </a:t>
            </a:r>
            <a:r>
              <a:rPr lang="en-US" b="1" dirty="0"/>
              <a:t>strategic industrial and macro-sensitive asset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81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607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The Structural Transformation of the Silver Market From Precious Metal to Critical Industrial Commodity </vt:lpstr>
      <vt:lpstr>PURPOSE OF THE ANALYSIS</vt:lpstr>
      <vt:lpstr>DATA SOURCES &amp; CREDIBILITY</vt:lpstr>
      <vt:lpstr>DATA ENGINEERING &amp; PREPARATION</vt:lpstr>
      <vt:lpstr>POWER BI &amp; DAX MODELING</vt:lpstr>
      <vt:lpstr>ANALYTICAL FRAMEWORK</vt:lpstr>
      <vt:lpstr>DEMAND COMPOSITION (STRUCTURAL SHIFT)</vt:lpstr>
      <vt:lpstr>INDUSTRIAL DEMAND BREAKDOWN</vt:lpstr>
      <vt:lpstr>SUPPLY STRUCTURE</vt:lpstr>
      <vt:lpstr>STRUCTURAL DEFICIT DRIVES PRICE</vt:lpstr>
      <vt:lpstr>FORWARD PRICE OUTLOOK</vt:lpstr>
      <vt:lpstr>INVESTOR IMPLICATIONS</vt:lpstr>
      <vt:lpstr>MODEL LIMITATIONS &amp; TRANSPARENCY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playil</dc:creator>
  <cp:lastModifiedBy>jordan playil</cp:lastModifiedBy>
  <cp:revision>1</cp:revision>
  <dcterms:created xsi:type="dcterms:W3CDTF">2026-01-14T11:11:59Z</dcterms:created>
  <dcterms:modified xsi:type="dcterms:W3CDTF">2026-01-14T11:20:25Z</dcterms:modified>
</cp:coreProperties>
</file>